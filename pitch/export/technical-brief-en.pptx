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91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BRIEF · 2026</a:t>
            </a:r>
            <a:endParaRPr lang="en-US" sz="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566928"/>
            <a:ext cx="502920" cy="502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78992" y="5029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5200" dirty="0"/>
          </a:p>
        </p:txBody>
      </p:sp>
      <p:sp>
        <p:nvSpPr>
          <p:cNvPr id="6" name="Text 2"/>
          <p:cNvSpPr/>
          <p:nvPr/>
        </p:nvSpPr>
        <p:spPr>
          <a:xfrm>
            <a:off x="502920" y="123444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source code compression for LLM context efficiency.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" y="1874520"/>
            <a:ext cx="1508760" cy="640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2920" y="202996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 Baumann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502920" y="22494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· WU Wien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2514600" y="202996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Philipp Horn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2514600" y="22494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· WHU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502920" y="2670048"/>
            <a:ext cx="2727960" cy="91440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12648" y="276148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612648" y="312724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token reduction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3276600" y="2670048"/>
            <a:ext cx="2727960" cy="91440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386328" y="276148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3.9×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3386328" y="312724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gain per 128k window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6050280" y="2670048"/>
            <a:ext cx="2727960" cy="91440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160008" y="276148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$3.90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6160008" y="312724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$15.00/MTok · Claude Opus 4.6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0" y="4841748"/>
            <a:ext cx="914400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20040" y="48874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7498080" y="48874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DEGRADATION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context doesn't mean better answers — it can mean worse ones.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20040" y="1335024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138074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NIAH — Needle In A Haystack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20040" y="157276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perform reliably below ~60–70% context utilization. Above that, retrieval accuracy drops 20–40% depending on where the target appears (Liu et al. 2023, "Lost in the Middle"). The effect compounds at 100k+ token contexts.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20040" y="212140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Mesh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1463040" y="2103120"/>
            <a:ext cx="7040880" cy="164592"/>
          </a:xfrm>
          <a:prstGeom prst="rect">
            <a:avLst/>
          </a:prstGeom>
          <a:solidFill>
            <a:srgbClr val="FCE4E4"/>
          </a:solidFill>
          <a:ln w="9525">
            <a:solidFill>
              <a:srgbClr val="FCE4E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463040" y="2103120"/>
            <a:ext cx="7040880" cy="164592"/>
          </a:xfrm>
          <a:prstGeom prst="rect">
            <a:avLst/>
          </a:prstGeom>
          <a:solidFill>
            <a:srgbClr val="FCE4E4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508760" y="2112264"/>
            <a:ext cx="6949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 medium files  — 100% utilized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320040" y="237744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Capsule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1463040" y="2359152"/>
            <a:ext cx="7040880" cy="164592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63040" y="2359152"/>
            <a:ext cx="1830629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2368296"/>
            <a:ext cx="6949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~78 medium files  — 26% utilized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320040" y="260604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20040" y="26517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SWE-bench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20040" y="284378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agents (Claude Opus 4.6, GPT-4o, Gemini) solve ~40–55% of real GitHub issues. Root cause of failures: the agent lacked sufficient codebase context. Current tools use embedding retrieval — finds relevant files, sends them raw. Token cost scales with codebase size. As the codebase grows, per-window coverage shrinks.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20040" y="3438144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20040" y="348386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Capsule fixes this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320040" y="367588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Capsule structurally compresses source files before they reach the LLM. The full file is always recoverable on demand. Activation is automatic — files under ~200 tokens pass through unchanged (format overhead would exceed savings).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Technical Brief 2026</a:t>
            </a:r>
            <a:endParaRPr lang="en-US" sz="700" dirty="0"/>
          </a:p>
        </p:txBody>
      </p:sp>
      <p:sp>
        <p:nvSpPr>
          <p:cNvPr id="28" name="Text 23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RESULTS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pipeline · 5 file types · 6 size tiers.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20040" y="12984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size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1463040" y="129844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reduction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8138160" y="129844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320040" y="1481328"/>
            <a:ext cx="8503920" cy="0"/>
          </a:xfrm>
          <a:prstGeom prst="line">
            <a:avLst/>
          </a:prstGeom>
          <a:noFill/>
          <a:ln w="9525">
            <a:solidFill>
              <a:srgbClr val="CDD3E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1517904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KB (small)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1463040" y="1572768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63040" y="1572768"/>
            <a:ext cx="5312664" cy="1554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936992" y="1517904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−83%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320040" y="1819656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KB (medium)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1463040" y="1874520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63040" y="1874520"/>
            <a:ext cx="6080760" cy="1554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936992" y="1819656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−95%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320040" y="2121408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 KB (large)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1463040" y="2176272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63040" y="2176272"/>
            <a:ext cx="6304788" cy="1554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36992" y="2121408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−98.5%</a:t>
            </a:r>
            <a:endParaRPr lang="en-US" sz="850" dirty="0"/>
          </a:p>
        </p:txBody>
      </p:sp>
      <p:sp>
        <p:nvSpPr>
          <p:cNvPr id="25" name="Text 18"/>
          <p:cNvSpPr/>
          <p:nvPr/>
        </p:nvSpPr>
        <p:spPr>
          <a:xfrm>
            <a:off x="320040" y="2423160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 KB (XL)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1463040" y="2478024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63040" y="2478024"/>
            <a:ext cx="6362395" cy="1554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936992" y="2423160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−99.4%</a:t>
            </a:r>
            <a:endParaRPr lang="en-US" sz="850" dirty="0"/>
          </a:p>
        </p:txBody>
      </p:sp>
      <p:sp>
        <p:nvSpPr>
          <p:cNvPr id="29" name="Text 21"/>
          <p:cNvSpPr/>
          <p:nvPr/>
        </p:nvSpPr>
        <p:spPr>
          <a:xfrm>
            <a:off x="320040" y="2724912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 KB (XXL)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1463040" y="2779776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63040" y="2779776"/>
            <a:ext cx="6394399" cy="15544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936992" y="2724912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−99.9%</a:t>
            </a:r>
            <a:endParaRPr lang="en-US" sz="850" dirty="0"/>
          </a:p>
        </p:txBody>
      </p:sp>
      <p:sp>
        <p:nvSpPr>
          <p:cNvPr id="33" name="Shape 24"/>
          <p:cNvSpPr/>
          <p:nvPr/>
        </p:nvSpPr>
        <p:spPr>
          <a:xfrm>
            <a:off x="320040" y="2990088"/>
            <a:ext cx="8503920" cy="0"/>
          </a:xfrm>
          <a:prstGeom prst="line">
            <a:avLst/>
          </a:prstGeom>
          <a:noFill/>
          <a:ln w="9525">
            <a:solidFill>
              <a:srgbClr val="CDD3E3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320040" y="3026664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1463040" y="3081528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63040" y="3081528"/>
            <a:ext cx="4736592" cy="15544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936992" y="3026664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−74% → 3.9×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320040" y="3273552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320040" y="33192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 impact (128k)</a:t>
            </a:r>
            <a:endParaRPr lang="en-US" sz="1000" dirty="0"/>
          </a:p>
        </p:txBody>
      </p:sp>
      <p:sp>
        <p:nvSpPr>
          <p:cNvPr id="40" name="Text 30"/>
          <p:cNvSpPr/>
          <p:nvPr/>
        </p:nvSpPr>
        <p:spPr>
          <a:xfrm>
            <a:off x="320040" y="352958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Mesh</a:t>
            </a:r>
            <a:endParaRPr lang="en-US" sz="800" dirty="0"/>
          </a:p>
        </p:txBody>
      </p:sp>
      <p:sp>
        <p:nvSpPr>
          <p:cNvPr id="41" name="Shape 31"/>
          <p:cNvSpPr/>
          <p:nvPr/>
        </p:nvSpPr>
        <p:spPr>
          <a:xfrm>
            <a:off x="1463040" y="3511296"/>
            <a:ext cx="7040880" cy="164592"/>
          </a:xfrm>
          <a:prstGeom prst="rect">
            <a:avLst/>
          </a:prstGeom>
          <a:solidFill>
            <a:srgbClr val="FCE4E4"/>
          </a:solidFill>
          <a:ln w="9525">
            <a:solidFill>
              <a:srgbClr val="FCE4E4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1463040" y="3511296"/>
            <a:ext cx="7040880" cy="164592"/>
          </a:xfrm>
          <a:prstGeom prst="rect">
            <a:avLst/>
          </a:prstGeom>
          <a:solidFill>
            <a:srgbClr val="FCE4E4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1508760" y="3520440"/>
            <a:ext cx="6949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 medium files  — 100% utilized</a:t>
            </a:r>
            <a:endParaRPr lang="en-US" sz="700" dirty="0"/>
          </a:p>
        </p:txBody>
      </p:sp>
      <p:sp>
        <p:nvSpPr>
          <p:cNvPr id="44" name="Text 34"/>
          <p:cNvSpPr/>
          <p:nvPr/>
        </p:nvSpPr>
        <p:spPr>
          <a:xfrm>
            <a:off x="320040" y="378561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Capsule</a:t>
            </a:r>
            <a:endParaRPr lang="en-US" sz="800" dirty="0"/>
          </a:p>
        </p:txBody>
      </p:sp>
      <p:sp>
        <p:nvSpPr>
          <p:cNvPr id="45" name="Shape 35"/>
          <p:cNvSpPr/>
          <p:nvPr/>
        </p:nvSpPr>
        <p:spPr>
          <a:xfrm>
            <a:off x="1463040" y="3767328"/>
            <a:ext cx="7040880" cy="164592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463040" y="3767328"/>
            <a:ext cx="1830629" cy="16459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508760" y="3776472"/>
            <a:ext cx="6949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~78 medium files  — 26% utilized</a:t>
            </a:r>
            <a:endParaRPr lang="en-US" sz="700" dirty="0"/>
          </a:p>
        </p:txBody>
      </p:sp>
      <p:sp>
        <p:nvSpPr>
          <p:cNvPr id="48" name="Shape 37"/>
          <p:cNvSpPr/>
          <p:nvPr/>
        </p:nvSpPr>
        <p:spPr>
          <a:xfrm>
            <a:off x="320040" y="4005072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49" name="Text 38"/>
          <p:cNvSpPr/>
          <p:nvPr/>
        </p:nvSpPr>
        <p:spPr>
          <a:xfrm>
            <a:off x="320040" y="40507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impact (Claude Opus 4.6 — $15.00/MTok)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224528"/>
          <a:ext cx="85039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1280160"/>
                <a:gridCol w="33375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Tokens sent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cost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Files covered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 code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$15.00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~100 medium files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Capsule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$3.90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100 files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</a:tbl>
          </a:graphicData>
        </a:graphic>
      </p:graphicFrame>
      <p:sp>
        <p:nvSpPr>
          <p:cNvPr id="51" name="Shape 39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52" name="Text 40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Technical Brief 2026</a:t>
            </a:r>
            <a:endParaRPr lang="en-US" sz="700" dirty="0"/>
          </a:p>
        </p:txBody>
      </p:sp>
      <p:sp>
        <p:nvSpPr>
          <p:cNvPr id="53" name="Text 41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54" name="Text 42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COMPARISON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VS COMPRESSION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fundamental architectural difference.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61872"/>
          <a:ext cx="85039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  <a:gridCol w="32461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 retrieval (industry default)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Capsule compression (Mesh)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reaches the model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 file content at full token cost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Compressed structural descriptor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cost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Scales with file count × file size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low cost regardless of file size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 coverage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to what fits raw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3.9× more files per window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Codebase size sensitivity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— coverage degrades as codebase grows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ratio improves with larger files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Mutually exclusive?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— Capsule is additive on top of any retrieval strategy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320040" y="3090672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20040" y="31363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compatibility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320040" y="3328416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Capsule output is plain text readable by any transformer LLM. Supported: Claude Opus 4.6 / Sonnet · Gemini 3.1 Pro / Flash · GPT-4o / o1 / o3. Provider switching is runtime-configurable — no re-indexing required.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320040" y="3785616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20040" y="3831336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type support</a:t>
            </a:r>
            <a:endParaRPr lang="en-US" sz="10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023360"/>
          <a:ext cx="85039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6092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 elements preserved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TypeScript / JS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Exports, class declarations, function signatures, type definitions, interfaces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Module-level declarations, class/function signatures, docstrings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YAML / JSON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Top-level keys, schema structure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Table/view/function definitions, column names and types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</a:tbl>
          </a:graphicData>
        </a:graphic>
      </p:graphicFrame>
      <p:sp>
        <p:nvSpPr>
          <p:cNvPr id="16" name="Shape 10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Technical Brief 2026</a:t>
            </a:r>
            <a:endParaRPr lang="en-US" sz="700" dirty="0"/>
          </a:p>
        </p:txBody>
      </p:sp>
      <p:sp>
        <p:nvSpPr>
          <p:cNvPr id="18" name="Text 12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19" name="Text 13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2026-04-15T18:33:50Z</dcterms:created>
  <dcterms:modified xsi:type="dcterms:W3CDTF">2026-04-15T18:33:50Z</dcterms:modified>
</cp:coreProperties>
</file>