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svg"/><Relationship Id="rId15" Type="http://schemas.openxmlformats.org/officeDocument/2006/relationships/image" Target="../media/image-4-15.png"/><Relationship Id="rId16" Type="http://schemas.openxmlformats.org/officeDocument/2006/relationships/image" Target="../media/image-4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91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WHITEPAPER · 2026</a:t>
            </a:r>
            <a:endParaRPr lang="en-US" sz="8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2920" y="566928"/>
            <a:ext cx="502920" cy="5029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78992" y="50292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Mesh.</a:t>
            </a:r>
            <a:endParaRPr lang="en-US" sz="5200" dirty="0"/>
          </a:p>
        </p:txBody>
      </p:sp>
      <p:sp>
        <p:nvSpPr>
          <p:cNvPr id="6" name="Text 2"/>
          <p:cNvSpPr/>
          <p:nvPr/>
        </p:nvSpPr>
        <p:spPr>
          <a:xfrm>
            <a:off x="502920" y="123444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source code compression for LLM context efficiency — Mesh Compression Engine.</a:t>
            </a: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2920" y="1828800"/>
            <a:ext cx="1508760" cy="64008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02920" y="2011680"/>
            <a:ext cx="2727960" cy="804672"/>
          </a:xfrm>
          <a:prstGeom prst="rect">
            <a:avLst/>
          </a:prstGeom>
          <a:solidFill>
            <a:srgbClr val="F8F9FC"/>
          </a:solidFill>
          <a:ln w="9525">
            <a:solidFill>
              <a:srgbClr val="E0E4EF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612648" y="2084832"/>
            <a:ext cx="2499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2000" dirty="0"/>
          </a:p>
        </p:txBody>
      </p:sp>
      <p:sp>
        <p:nvSpPr>
          <p:cNvPr id="10" name="Text 5"/>
          <p:cNvSpPr/>
          <p:nvPr/>
        </p:nvSpPr>
        <p:spPr>
          <a:xfrm>
            <a:off x="612648" y="2432304"/>
            <a:ext cx="249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token reduction</a:t>
            </a:r>
            <a:endParaRPr lang="en-US" sz="800" dirty="0"/>
          </a:p>
        </p:txBody>
      </p:sp>
      <p:sp>
        <p:nvSpPr>
          <p:cNvPr id="11" name="Shape 6"/>
          <p:cNvSpPr/>
          <p:nvPr/>
        </p:nvSpPr>
        <p:spPr>
          <a:xfrm>
            <a:off x="3276600" y="2011680"/>
            <a:ext cx="2727960" cy="804672"/>
          </a:xfrm>
          <a:prstGeom prst="rect">
            <a:avLst/>
          </a:prstGeom>
          <a:solidFill>
            <a:srgbClr val="F8F9FC"/>
          </a:solidFill>
          <a:ln w="9525">
            <a:solidFill>
              <a:srgbClr val="E0E4EF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3386328" y="2084832"/>
            <a:ext cx="2499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3.9×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3386328" y="2432304"/>
            <a:ext cx="249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gain per 128k window</a:t>
            </a:r>
            <a:endParaRPr lang="en-US" sz="800" dirty="0"/>
          </a:p>
        </p:txBody>
      </p:sp>
      <p:sp>
        <p:nvSpPr>
          <p:cNvPr id="14" name="Shape 9"/>
          <p:cNvSpPr/>
          <p:nvPr/>
        </p:nvSpPr>
        <p:spPr>
          <a:xfrm>
            <a:off x="6050280" y="2011680"/>
            <a:ext cx="2727960" cy="804672"/>
          </a:xfrm>
          <a:prstGeom prst="rect">
            <a:avLst/>
          </a:prstGeom>
          <a:solidFill>
            <a:srgbClr val="F8F9FC"/>
          </a:solidFill>
          <a:ln w="9525">
            <a:solidFill>
              <a:srgbClr val="E0E4EF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160008" y="2084832"/>
            <a:ext cx="2499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$3.90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6160008" y="2432304"/>
            <a:ext cx="249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$15.00/MTok · Claude Opus 4.6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0" y="48691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Compression Engine · Production pipeline · 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82296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040" y="164592"/>
            <a:ext cx="256032" cy="25603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12648" y="13716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Mesh.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7498080" y="1554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WHITEPAPER</a:t>
            </a:r>
            <a:endParaRPr lang="en-US" sz="650" dirty="0"/>
          </a:p>
        </p:txBody>
      </p:sp>
      <p:sp>
        <p:nvSpPr>
          <p:cNvPr id="6" name="Shape 2"/>
          <p:cNvSpPr/>
          <p:nvPr/>
        </p:nvSpPr>
        <p:spPr>
          <a:xfrm>
            <a:off x="320040" y="502920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20040" y="56692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320040" y="75895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context utilization increases, LLM retrieval accuracy degrades — measurably.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320040" y="1344168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20040" y="138988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NIAH — Needle In A Haystack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20040" y="1627632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Liu et al., 2023, "Lost in the Middle". A specific fact is placed at varying positions; the model must retrieve it. Results across GPT-4, Claude, Gemini:</a:t>
            </a:r>
            <a:endParaRPr lang="en-US" sz="9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029968"/>
          <a:ext cx="29260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Context utilization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Retrieval accuracy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60%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~95–98%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60–80%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~75–85%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80–95%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~55–70%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95%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~40–60%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3383280" y="2029968"/>
            <a:ext cx="5440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Degradation is positional — facts in the middle of the context are retrieved less reliably than those at the beginning or end. The effect amplifies at 100k+ token contexts.</a:t>
            </a:r>
            <a:endParaRPr lang="en-US" sz="950" dirty="0"/>
          </a:p>
        </p:txBody>
      </p:sp>
      <p:sp>
        <p:nvSpPr>
          <p:cNvPr id="14" name="Text 9"/>
          <p:cNvSpPr/>
          <p:nvPr/>
        </p:nvSpPr>
        <p:spPr>
          <a:xfrm>
            <a:off x="320040" y="280720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Mesh</a:t>
            </a:r>
            <a:endParaRPr lang="en-US" sz="800" dirty="0"/>
          </a:p>
        </p:txBody>
      </p:sp>
      <p:sp>
        <p:nvSpPr>
          <p:cNvPr id="15" name="Shape 10"/>
          <p:cNvSpPr/>
          <p:nvPr/>
        </p:nvSpPr>
        <p:spPr>
          <a:xfrm>
            <a:off x="1463040" y="2788920"/>
            <a:ext cx="7040880" cy="164592"/>
          </a:xfrm>
          <a:prstGeom prst="rect">
            <a:avLst/>
          </a:prstGeom>
          <a:solidFill>
            <a:srgbClr val="FCE4E4"/>
          </a:solidFill>
          <a:ln w="9525">
            <a:solidFill>
              <a:srgbClr val="FCE4E4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463040" y="2788920"/>
            <a:ext cx="7040880" cy="164592"/>
          </a:xfrm>
          <a:prstGeom prst="rect">
            <a:avLst/>
          </a:prstGeom>
          <a:solidFill>
            <a:srgbClr val="FCE4E4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1508760" y="2798064"/>
            <a:ext cx="6949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 medium files  — 100% utilized</a:t>
            </a:r>
            <a:endParaRPr lang="en-US" sz="700" dirty="0"/>
          </a:p>
        </p:txBody>
      </p:sp>
      <p:sp>
        <p:nvSpPr>
          <p:cNvPr id="18" name="Text 13"/>
          <p:cNvSpPr/>
          <p:nvPr/>
        </p:nvSpPr>
        <p:spPr>
          <a:xfrm>
            <a:off x="320040" y="3063240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Capsule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1463040" y="3044952"/>
            <a:ext cx="7040880" cy="164592"/>
          </a:xfrm>
          <a:prstGeom prst="rect">
            <a:avLst/>
          </a:prstGeom>
          <a:solidFill>
            <a:srgbClr val="F0F2F8"/>
          </a:solidFill>
          <a:ln w="9525">
            <a:solidFill>
              <a:srgbClr val="E0E4EF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63040" y="3044952"/>
            <a:ext cx="1830629" cy="16459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08760" y="3054096"/>
            <a:ext cx="6949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~78 medium files  — 26% utilized</a:t>
            </a:r>
            <a:endParaRPr lang="en-US" sz="700" dirty="0"/>
          </a:p>
        </p:txBody>
      </p:sp>
      <p:sp>
        <p:nvSpPr>
          <p:cNvPr id="22" name="Shape 16"/>
          <p:cNvSpPr/>
          <p:nvPr/>
        </p:nvSpPr>
        <p:spPr>
          <a:xfrm>
            <a:off x="320040" y="3383280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20040" y="342900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SWE-bench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320040" y="36118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models (Claude Opus 4.6, GPT-4o, Gemini 3.1 Pro) resolve ~40–55% of real GitHub issues. Leading failure cause: insufficient codebase context. Embedding retrieval selects which files to include — it does not reduce what each file costs.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320040" y="4887468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320040" y="494233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— Technical Whitepaper 2026</a:t>
            </a:r>
            <a:endParaRPr lang="en-US" sz="700" dirty="0"/>
          </a:p>
        </p:txBody>
      </p:sp>
      <p:sp>
        <p:nvSpPr>
          <p:cNvPr id="27" name="Text 21"/>
          <p:cNvSpPr/>
          <p:nvPr/>
        </p:nvSpPr>
        <p:spPr>
          <a:xfrm>
            <a:off x="3200400" y="494233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700" dirty="0"/>
          </a:p>
        </p:txBody>
      </p:sp>
      <p:sp>
        <p:nvSpPr>
          <p:cNvPr id="28" name="Text 22"/>
          <p:cNvSpPr/>
          <p:nvPr/>
        </p:nvSpPr>
        <p:spPr>
          <a:xfrm>
            <a:off x="7772400" y="494233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82296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040" y="164592"/>
            <a:ext cx="256032" cy="25603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12648" y="13716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Mesh.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7498080" y="1554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WHITEPAPER</a:t>
            </a:r>
            <a:endParaRPr lang="en-US" sz="650" dirty="0"/>
          </a:p>
        </p:txBody>
      </p:sp>
      <p:sp>
        <p:nvSpPr>
          <p:cNvPr id="6" name="Shape 2"/>
          <p:cNvSpPr/>
          <p:nvPr/>
        </p:nvSpPr>
        <p:spPr>
          <a:xfrm>
            <a:off x="320040" y="502920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20040" y="56692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320040" y="758952"/>
            <a:ext cx="8503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compression with selective recovery — not summarization.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20040" y="128016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stages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508760"/>
          <a:ext cx="850392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011680"/>
                <a:gridCol w="52578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Output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— Parse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Language-aware AST extraction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Declarations, signatures, type annotations, doc comments, control flow markers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— Compress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body reduction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Bodies replaced with structural stubs; non-structural tokens minimized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— Encode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Descriptor assembly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Compact plain-text structural descriptor preserving semantic skeleton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— Recovery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On-demand body restoration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implementation body injected inline when model identifies it as needed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320040" y="2743200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320040" y="27889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preserved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320040" y="2999232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export and declaration names</a:t>
            </a:r>
            <a:pPr indent="0" marL="0">
              <a:buNone/>
            </a:pPr>
            <a:r>
              <a:rPr lang="en-US" sz="9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function and method signatures (parameters, return types)</a:t>
            </a:r>
            <a:pPr indent="0" marL="0">
              <a:buNone/>
            </a:pPr>
            <a:r>
              <a:rPr lang="en-US" sz="9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definitions, interfaces, type aliases, class hierarchy</a:t>
            </a:r>
            <a:pPr indent="0" marL="0">
              <a:buNone/>
            </a:pPr>
            <a:r>
              <a:rPr lang="en-US" sz="9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 comment content — the semantic contract of the function</a:t>
            </a:r>
            <a:pPr indent="0" marL="0">
              <a:buNone/>
            </a:pPr>
            <a:r>
              <a:rPr lang="en-US" sz="9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flow markers (try/catch, loop, async/await)</a:t>
            </a:r>
            <a:pPr indent="0" marL="0">
              <a:buNone/>
            </a:pPr>
            <a:r>
              <a:rPr lang="en-US" sz="9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imports and dependency references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320040" y="2743200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20040" y="27889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 threshold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4526280" y="2999232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below ~200 tokens receive pass-through (format overhead &gt; savings). In production codebases, ~95% of files are in the compression range. The threshold has no material effect on total context reduction.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4526280" y="3730752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· Lossless at structural level · Non-destructive · Reversible on demand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320040" y="4887468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4233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— Technical Whitepaper 2026</a:t>
            </a:r>
            <a:endParaRPr lang="en-US" sz="700" dirty="0"/>
          </a:p>
        </p:txBody>
      </p:sp>
      <p:sp>
        <p:nvSpPr>
          <p:cNvPr id="21" name="Text 16"/>
          <p:cNvSpPr/>
          <p:nvPr/>
        </p:nvSpPr>
        <p:spPr>
          <a:xfrm>
            <a:off x="3200400" y="494233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700" dirty="0"/>
          </a:p>
        </p:txBody>
      </p:sp>
      <p:sp>
        <p:nvSpPr>
          <p:cNvPr id="22" name="Text 17"/>
          <p:cNvSpPr/>
          <p:nvPr/>
        </p:nvSpPr>
        <p:spPr>
          <a:xfrm>
            <a:off x="7772400" y="494233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82296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040" y="164592"/>
            <a:ext cx="256032" cy="25603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12648" y="13716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Mesh.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7498080" y="1554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WHITEPAPER</a:t>
            </a:r>
            <a:endParaRPr lang="en-US" sz="650" dirty="0"/>
          </a:p>
        </p:txBody>
      </p:sp>
      <p:sp>
        <p:nvSpPr>
          <p:cNvPr id="6" name="Shape 2"/>
          <p:cNvSpPr/>
          <p:nvPr/>
        </p:nvSpPr>
        <p:spPr>
          <a:xfrm>
            <a:off x="320040" y="502920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20040" y="56692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RESULTS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320040" y="758952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pipeline · 5 file types · 6 size tiers · 50 files per tier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320040" y="114300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TypeScript, YAML, SQL, HTML, Markdown — real numbers from the production Capsule pipeline.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320040" y="1463040"/>
            <a:ext cx="1097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 KB (small)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1463040" y="1517904"/>
            <a:ext cx="6400800" cy="155448"/>
          </a:xfrm>
          <a:prstGeom prst="rect">
            <a:avLst/>
          </a:prstGeom>
          <a:solidFill>
            <a:srgbClr val="F0F2F8"/>
          </a:solidFill>
          <a:ln w="9525">
            <a:solidFill>
              <a:srgbClr val="E0E4E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63040" y="1517904"/>
            <a:ext cx="5312664" cy="1554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936992" y="1463040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A7C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−83%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320040" y="1764792"/>
            <a:ext cx="1097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 KB (medium)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1463040" y="1819656"/>
            <a:ext cx="6400800" cy="155448"/>
          </a:xfrm>
          <a:prstGeom prst="rect">
            <a:avLst/>
          </a:prstGeom>
          <a:solidFill>
            <a:srgbClr val="F0F2F8"/>
          </a:solidFill>
          <a:ln w="9525">
            <a:solidFill>
              <a:srgbClr val="E0E4EF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63040" y="1819656"/>
            <a:ext cx="6080760" cy="15544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936992" y="1764792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A7C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−95%</a:t>
            </a:r>
            <a:endParaRPr lang="en-US" sz="850" dirty="0"/>
          </a:p>
        </p:txBody>
      </p:sp>
      <p:sp>
        <p:nvSpPr>
          <p:cNvPr id="18" name="Text 12"/>
          <p:cNvSpPr/>
          <p:nvPr/>
        </p:nvSpPr>
        <p:spPr>
          <a:xfrm>
            <a:off x="320040" y="2066544"/>
            <a:ext cx="1097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~18 KB (large)</a:t>
            </a:r>
            <a:endParaRPr lang="en-US" sz="850" dirty="0"/>
          </a:p>
        </p:txBody>
      </p:sp>
      <p:sp>
        <p:nvSpPr>
          <p:cNvPr id="19" name="Shape 13"/>
          <p:cNvSpPr/>
          <p:nvPr/>
        </p:nvSpPr>
        <p:spPr>
          <a:xfrm>
            <a:off x="1463040" y="2121408"/>
            <a:ext cx="6400800" cy="155448"/>
          </a:xfrm>
          <a:prstGeom prst="rect">
            <a:avLst/>
          </a:prstGeom>
          <a:solidFill>
            <a:srgbClr val="F0F2F8"/>
          </a:solidFill>
          <a:ln w="9525">
            <a:solidFill>
              <a:srgbClr val="E0E4EF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63040" y="2121408"/>
            <a:ext cx="6304788" cy="15544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936992" y="2066544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A7C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−98.5%</a:t>
            </a:r>
            <a:endParaRPr lang="en-US" sz="850" dirty="0"/>
          </a:p>
        </p:txBody>
      </p:sp>
      <p:sp>
        <p:nvSpPr>
          <p:cNvPr id="22" name="Text 15"/>
          <p:cNvSpPr/>
          <p:nvPr/>
        </p:nvSpPr>
        <p:spPr>
          <a:xfrm>
            <a:off x="320040" y="2368296"/>
            <a:ext cx="1097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 KB (XL)</a:t>
            </a:r>
            <a:endParaRPr lang="en-US" sz="850" dirty="0"/>
          </a:p>
        </p:txBody>
      </p:sp>
      <p:sp>
        <p:nvSpPr>
          <p:cNvPr id="23" name="Shape 16"/>
          <p:cNvSpPr/>
          <p:nvPr/>
        </p:nvSpPr>
        <p:spPr>
          <a:xfrm>
            <a:off x="1463040" y="2423160"/>
            <a:ext cx="6400800" cy="155448"/>
          </a:xfrm>
          <a:prstGeom prst="rect">
            <a:avLst/>
          </a:prstGeom>
          <a:solidFill>
            <a:srgbClr val="F0F2F8"/>
          </a:solidFill>
          <a:ln w="9525">
            <a:solidFill>
              <a:srgbClr val="E0E4EF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463040" y="2423160"/>
            <a:ext cx="6362395" cy="15544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936992" y="2368296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A7C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−99.4%</a:t>
            </a:r>
            <a:endParaRPr lang="en-US" sz="850" dirty="0"/>
          </a:p>
        </p:txBody>
      </p:sp>
      <p:sp>
        <p:nvSpPr>
          <p:cNvPr id="26" name="Text 18"/>
          <p:cNvSpPr/>
          <p:nvPr/>
        </p:nvSpPr>
        <p:spPr>
          <a:xfrm>
            <a:off x="320040" y="2670048"/>
            <a:ext cx="1097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~100 KB (XXL)</a:t>
            </a:r>
            <a:endParaRPr lang="en-US" sz="850" dirty="0"/>
          </a:p>
        </p:txBody>
      </p:sp>
      <p:sp>
        <p:nvSpPr>
          <p:cNvPr id="27" name="Shape 19"/>
          <p:cNvSpPr/>
          <p:nvPr/>
        </p:nvSpPr>
        <p:spPr>
          <a:xfrm>
            <a:off x="1463040" y="2724912"/>
            <a:ext cx="6400800" cy="155448"/>
          </a:xfrm>
          <a:prstGeom prst="rect">
            <a:avLst/>
          </a:prstGeom>
          <a:solidFill>
            <a:srgbClr val="F0F2F8"/>
          </a:solidFill>
          <a:ln w="9525">
            <a:solidFill>
              <a:srgbClr val="E0E4EF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463040" y="2724912"/>
            <a:ext cx="6394399" cy="15544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936992" y="2670048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A7C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−99.9%</a:t>
            </a:r>
            <a:endParaRPr lang="en-US" sz="850" dirty="0"/>
          </a:p>
        </p:txBody>
      </p:sp>
      <p:sp>
        <p:nvSpPr>
          <p:cNvPr id="30" name="Shape 21"/>
          <p:cNvSpPr/>
          <p:nvPr/>
        </p:nvSpPr>
        <p:spPr>
          <a:xfrm>
            <a:off x="320040" y="2935224"/>
            <a:ext cx="8503920" cy="0"/>
          </a:xfrm>
          <a:prstGeom prst="line">
            <a:avLst/>
          </a:prstGeom>
          <a:noFill/>
          <a:ln w="9525">
            <a:solidFill>
              <a:srgbClr val="CDD3E3"/>
            </a:solidFill>
            <a:prstDash val="solid"/>
          </a:ln>
        </p:spPr>
      </p:sp>
      <p:sp>
        <p:nvSpPr>
          <p:cNvPr id="31" name="Text 22"/>
          <p:cNvSpPr/>
          <p:nvPr/>
        </p:nvSpPr>
        <p:spPr>
          <a:xfrm>
            <a:off x="320040" y="2971800"/>
            <a:ext cx="1097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</a:t>
            </a:r>
            <a:endParaRPr lang="en-US" sz="900" dirty="0"/>
          </a:p>
        </p:txBody>
      </p:sp>
      <p:sp>
        <p:nvSpPr>
          <p:cNvPr id="32" name="Shape 23"/>
          <p:cNvSpPr/>
          <p:nvPr/>
        </p:nvSpPr>
        <p:spPr>
          <a:xfrm>
            <a:off x="1463040" y="3026664"/>
            <a:ext cx="6400800" cy="155448"/>
          </a:xfrm>
          <a:prstGeom prst="rect">
            <a:avLst/>
          </a:prstGeom>
          <a:solidFill>
            <a:srgbClr val="F0F2F8"/>
          </a:solidFill>
          <a:ln w="9525">
            <a:solidFill>
              <a:srgbClr val="E0E4EF"/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463040" y="3026664"/>
            <a:ext cx="4736592" cy="155448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7936992" y="2971800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−74% → 3.9×</a:t>
            </a:r>
            <a:endParaRPr lang="en-US" sz="1000" dirty="0"/>
          </a:p>
        </p:txBody>
      </p:sp>
      <p:sp>
        <p:nvSpPr>
          <p:cNvPr id="35" name="Shape 25"/>
          <p:cNvSpPr/>
          <p:nvPr/>
        </p:nvSpPr>
        <p:spPr>
          <a:xfrm>
            <a:off x="320040" y="3730752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36" name="Text 26"/>
          <p:cNvSpPr/>
          <p:nvPr/>
        </p:nvSpPr>
        <p:spPr>
          <a:xfrm>
            <a:off x="320040" y="377647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compression ratio improves with file size</a:t>
            </a:r>
            <a:endParaRPr lang="en-US" sz="1000" dirty="0"/>
          </a:p>
        </p:txBody>
      </p:sp>
      <p:sp>
        <p:nvSpPr>
          <p:cNvPr id="37" name="Text 27"/>
          <p:cNvSpPr/>
          <p:nvPr/>
        </p:nvSpPr>
        <p:spPr>
          <a:xfrm>
            <a:off x="320040" y="39776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bodies scale with file size; structural skeletons do not. A 100 KB TypeScript file has approximately the same skeleton size as a 5 KB file — the extra 95 KB is almost entirely implementation bodies.</a:t>
            </a:r>
            <a:endParaRPr lang="en-US" sz="850" dirty="0"/>
          </a:p>
        </p:txBody>
      </p:sp>
      <p:sp>
        <p:nvSpPr>
          <p:cNvPr id="38" name="Shape 28"/>
          <p:cNvSpPr/>
          <p:nvPr/>
        </p:nvSpPr>
        <p:spPr>
          <a:xfrm>
            <a:off x="320040" y="4887468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39" name="Text 29"/>
          <p:cNvSpPr/>
          <p:nvPr/>
        </p:nvSpPr>
        <p:spPr>
          <a:xfrm>
            <a:off x="320040" y="494233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— Technical Whitepaper 2026</a:t>
            </a:r>
            <a:endParaRPr lang="en-US" sz="700" dirty="0"/>
          </a:p>
        </p:txBody>
      </p:sp>
      <p:sp>
        <p:nvSpPr>
          <p:cNvPr id="40" name="Text 30"/>
          <p:cNvSpPr/>
          <p:nvPr/>
        </p:nvSpPr>
        <p:spPr>
          <a:xfrm>
            <a:off x="3200400" y="494233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700" dirty="0"/>
          </a:p>
        </p:txBody>
      </p:sp>
      <p:sp>
        <p:nvSpPr>
          <p:cNvPr id="41" name="Text 31"/>
          <p:cNvSpPr/>
          <p:nvPr/>
        </p:nvSpPr>
        <p:spPr>
          <a:xfrm>
            <a:off x="7772400" y="494233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82296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040" y="164592"/>
            <a:ext cx="256032" cy="25603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12648" y="13716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Mesh.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7498080" y="1554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WHITEPAPER</a:t>
            </a:r>
            <a:endParaRPr lang="en-US" sz="650" dirty="0"/>
          </a:p>
        </p:txBody>
      </p:sp>
      <p:sp>
        <p:nvSpPr>
          <p:cNvPr id="6" name="Shape 2"/>
          <p:cNvSpPr/>
          <p:nvPr/>
        </p:nvSpPr>
        <p:spPr>
          <a:xfrm>
            <a:off x="320040" y="502920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20040" y="56692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ANALYSIS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320040" y="758952"/>
            <a:ext cx="8503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 cost reduction per query — same files, same model, same result quality.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20040" y="128016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Per-query cost (Claude Opus 4.6 — $15.00/MTok input)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508760"/>
          <a:ext cx="850392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828800"/>
                <a:gridCol w="256032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 type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Tokens sent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per query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Raw source (100 medium files)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$15.00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Capsule compressed (same 100 files)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~260,000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$3.90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320040" y="2121408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320040" y="216712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projection (10,000 users · 50 queries/day · 50k avg context tokens)</a:t>
            </a:r>
            <a:endParaRPr lang="en-US" sz="10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377440"/>
          <a:ext cx="85039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286000"/>
                <a:gridCol w="301752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Raw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Capsule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tokens/day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25,000,000,000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~6,500,000,000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cost/day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$375,000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~$97,500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Monthly API cost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$11,250,000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~$2,925,000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Monthly savings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$8,325,000 (−74%)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</a:tr>
            </a:tbl>
          </a:graphicData>
        </a:graphic>
      </p:graphicFrame>
      <p:sp>
        <p:nvSpPr>
          <p:cNvPr id="15" name="Shape 9"/>
          <p:cNvSpPr/>
          <p:nvPr/>
        </p:nvSpPr>
        <p:spPr>
          <a:xfrm>
            <a:off x="320040" y="3840480"/>
            <a:ext cx="8503920" cy="411480"/>
          </a:xfrm>
          <a:prstGeom prst="rect">
            <a:avLst/>
          </a:prstGeom>
          <a:solidFill>
            <a:srgbClr val="E8F0FE"/>
          </a:solidFill>
          <a:ln w="9525">
            <a:solidFill>
              <a:srgbClr val="E8F0FE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320040" y="3840480"/>
            <a:ext cx="41148" cy="411480"/>
          </a:xfrm>
          <a:prstGeom prst="rect">
            <a:avLst/>
          </a:prstGeom>
          <a:solidFill>
            <a:srgbClr val="005FB8"/>
          </a:solidFill>
          <a:ln w="12700">
            <a:solidFill>
              <a:srgbClr val="005FB8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420624" y="3886200"/>
            <a:ext cx="8366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 curve is flat with Capsule — adding more files to context costs near-zero marginal tokens once those files are in the compression range.</a:t>
            </a:r>
            <a:endParaRPr lang="en-US" sz="900" dirty="0"/>
          </a:p>
        </p:txBody>
      </p:sp>
      <p:sp>
        <p:nvSpPr>
          <p:cNvPr id="18" name="Shape 12"/>
          <p:cNvSpPr/>
          <p:nvPr/>
        </p:nvSpPr>
        <p:spPr>
          <a:xfrm>
            <a:off x="320040" y="4887468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20040" y="494233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— Technical Whitepaper 2026</a:t>
            </a:r>
            <a:endParaRPr lang="en-US" sz="700" dirty="0"/>
          </a:p>
        </p:txBody>
      </p:sp>
      <p:sp>
        <p:nvSpPr>
          <p:cNvPr id="20" name="Text 14"/>
          <p:cNvSpPr/>
          <p:nvPr/>
        </p:nvSpPr>
        <p:spPr>
          <a:xfrm>
            <a:off x="3200400" y="494233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700" dirty="0"/>
          </a:p>
        </p:txBody>
      </p:sp>
      <p:sp>
        <p:nvSpPr>
          <p:cNvPr id="21" name="Text 15"/>
          <p:cNvSpPr/>
          <p:nvPr/>
        </p:nvSpPr>
        <p:spPr>
          <a:xfrm>
            <a:off x="7772400" y="494233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82296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040" y="164592"/>
            <a:ext cx="256032" cy="25603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12648" y="13716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Mesh.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7498080" y="1554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WHITEPAPER</a:t>
            </a:r>
            <a:endParaRPr lang="en-US" sz="650" dirty="0"/>
          </a:p>
        </p:txBody>
      </p:sp>
      <p:sp>
        <p:nvSpPr>
          <p:cNvPr id="6" name="Shape 2"/>
          <p:cNvSpPr/>
          <p:nvPr/>
        </p:nvSpPr>
        <p:spPr>
          <a:xfrm>
            <a:off x="320040" y="502920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20040" y="56692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320040" y="758952"/>
            <a:ext cx="8503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selects files. Compression reduces what each file costs. Both apply.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20040" y="128016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vs. Compression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481328"/>
          <a:ext cx="85039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651760"/>
                <a:gridCol w="365760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Property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Embedding retrieval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Capsule compression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reaches the model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Raw file content (full token cost)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Compressed structural descriptor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Token cost scales with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 count × file size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Near-constant (structural skeleton)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Context coverage (128k)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~20 medium files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~78 medium files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Codebase size sensitivity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— ratio improves with size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Additive with retrieval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Operates post-retrieval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320040" y="2852928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320040" y="289864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type support (v1)</a:t>
            </a:r>
            <a:endParaRPr lang="en-US" sz="10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090672"/>
          <a:ext cx="85039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67512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Language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Preserved structural elements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TypeScript / JavaScript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Exports, class declarations, function signatures, type definitions, interfaces, generics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Module-level declarations, class/function signatures, type hints, docstrings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YAML / JSON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Top-level keys, schema structure (values compressed to type markers)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Table/view/function definitions, column names and types, index definitions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HTML / JSX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 tree structure, prop signatures, slot structure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Markdown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Heading hierarchy, code block presence, link structure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320040" y="468172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Go, Rust, Java, C#, Ruby, PHP planned for Capsule v2.  ·  Model-agnostic: works with Claude, Gemini, GPT-4o, o1, o3, o4-mini without fine-tuning or reindexing.</a:t>
            </a:r>
            <a:endParaRPr lang="en-US" sz="750" dirty="0"/>
          </a:p>
        </p:txBody>
      </p:sp>
      <p:sp>
        <p:nvSpPr>
          <p:cNvPr id="16" name="Shape 10"/>
          <p:cNvSpPr/>
          <p:nvPr/>
        </p:nvSpPr>
        <p:spPr>
          <a:xfrm>
            <a:off x="320040" y="4887468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320040" y="494233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— Technical Whitepaper 2026</a:t>
            </a:r>
            <a:endParaRPr lang="en-US" sz="700" dirty="0"/>
          </a:p>
        </p:txBody>
      </p:sp>
      <p:sp>
        <p:nvSpPr>
          <p:cNvPr id="18" name="Text 12"/>
          <p:cNvSpPr/>
          <p:nvPr/>
        </p:nvSpPr>
        <p:spPr>
          <a:xfrm>
            <a:off x="3200400" y="494233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700" dirty="0"/>
          </a:p>
        </p:txBody>
      </p:sp>
      <p:sp>
        <p:nvSpPr>
          <p:cNvPr id="19" name="Text 13"/>
          <p:cNvSpPr/>
          <p:nvPr/>
        </p:nvSpPr>
        <p:spPr>
          <a:xfrm>
            <a:off x="7772400" y="494233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2026-04-15T18:33:50Z</dcterms:created>
  <dcterms:modified xsi:type="dcterms:W3CDTF">2026-04-15T18:33:50Z</dcterms:modified>
</cp:coreProperties>
</file>